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nton" panose="020F0502020204030204" pitchFamily="2" charset="0"/>
      <p:regular r:id="rId19"/>
    </p:embeddedFont>
    <p:embeddedFont>
      <p:font typeface="Impact" panose="020B0806030902050204" pitchFamily="34" charset="0"/>
      <p:regular r:id="rId20"/>
    </p:embeddedFont>
    <p:embeddedFont>
      <p:font typeface="Poppins" panose="020B0502040204020203" pitchFamily="2" charset="0"/>
      <p:regular r:id="rId21"/>
    </p:embeddedFont>
    <p:embeddedFont>
      <p:font typeface="Poppins Bold" panose="020B0604020202020204" charset="0"/>
      <p:regular r:id="rId22"/>
    </p:embeddedFont>
    <p:embeddedFont>
      <p:font typeface="Poppins Italics" panose="020B0604020202020204" charset="0"/>
      <p:regular r:id="rId23"/>
    </p:embeddedFont>
    <p:embeddedFont>
      <p:font typeface="Poppins Medium" panose="020B0502040204020203" pitchFamily="2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501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 rot="-2529474">
            <a:off x="-5671116" y="-2863802"/>
            <a:ext cx="15959856" cy="8583964"/>
          </a:xfrm>
          <a:custGeom>
            <a:avLst/>
            <a:gdLst/>
            <a:ahLst/>
            <a:cxnLst/>
            <a:rect l="l" t="t" r="r" b="b"/>
            <a:pathLst>
              <a:path w="15959856" h="8583964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698167" y="3663230"/>
            <a:ext cx="14719740" cy="261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34"/>
              </a:lnSpc>
            </a:pPr>
            <a:r>
              <a:rPr lang="en-US" sz="153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EDUCODE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84950" y="6160443"/>
            <a:ext cx="5318100" cy="1200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ENTORNO INTERACTIVO</a:t>
            </a:r>
          </a:p>
        </p:txBody>
      </p:sp>
      <p:sp>
        <p:nvSpPr>
          <p:cNvPr id="6" name="Freeform 6"/>
          <p:cNvSpPr/>
          <p:nvPr/>
        </p:nvSpPr>
        <p:spPr>
          <a:xfrm rot="7304205">
            <a:off x="9505390" y="4403509"/>
            <a:ext cx="12307770" cy="7200900"/>
          </a:xfrm>
          <a:custGeom>
            <a:avLst/>
            <a:gdLst/>
            <a:ahLst/>
            <a:cxnLst/>
            <a:rect l="l" t="t" r="r" b="b"/>
            <a:pathLst>
              <a:path w="12307770" h="720090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254613" y="9102163"/>
            <a:ext cx="7927604" cy="86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</a:pPr>
            <a:endParaRPr/>
          </a:p>
          <a:p>
            <a:pPr algn="l">
              <a:lnSpc>
                <a:spcPts val="2260"/>
              </a:lnSpc>
            </a:pPr>
            <a:r>
              <a:rPr lang="en-US" sz="1614" i="1" spc="374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LEANDRO GAJARDO - NICOLAS ROJAS(003D)</a:t>
            </a:r>
          </a:p>
          <a:p>
            <a:pPr algn="l">
              <a:lnSpc>
                <a:spcPts val="2260"/>
              </a:lnSpc>
            </a:pPr>
            <a:r>
              <a:rPr lang="en-US" sz="1614" i="1" spc="374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BRANDON DIAZ - MATIAS BRIONES (002D)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3588" y="5806884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9657079" y="1600342"/>
            <a:ext cx="7060793" cy="6649983"/>
          </a:xfrm>
          <a:custGeom>
            <a:avLst/>
            <a:gdLst/>
            <a:ahLst/>
            <a:cxnLst/>
            <a:rect l="l" t="t" r="r" b="b"/>
            <a:pathLst>
              <a:path w="7060793" h="6649983">
                <a:moveTo>
                  <a:pt x="0" y="0"/>
                </a:moveTo>
                <a:lnTo>
                  <a:pt x="7060793" y="0"/>
                </a:lnTo>
                <a:lnTo>
                  <a:pt x="7060793" y="6649983"/>
                </a:lnTo>
                <a:lnTo>
                  <a:pt x="0" y="6649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-4664621" y="-753127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1611155" y="3323248"/>
            <a:ext cx="7293329" cy="4799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3667" lvl="1" indent="-246834" algn="just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enseñanza tradicional de la programación a menudo se enfrenta a un problema histórico: la abstracción excesiva.</a:t>
            </a:r>
          </a:p>
          <a:p>
            <a:pPr algn="just">
              <a:lnSpc>
                <a:spcPts val="3201"/>
              </a:lnSpc>
            </a:pPr>
            <a:endParaRPr lang="en-US" sz="22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3667" lvl="1" indent="-246834" algn="just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estudiantes de primeros años suelen abandonar la informática o sentirse frustrados debido a la monotonía de los tutoriales secos.</a:t>
            </a:r>
          </a:p>
          <a:p>
            <a:pPr algn="just">
              <a:lnSpc>
                <a:spcPts val="3201"/>
              </a:lnSpc>
            </a:pPr>
            <a:endParaRPr lang="en-US" sz="22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3667" lvl="1" indent="-246834" algn="just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Conceptos complejos como la Programación Orientada a Objetos (POO) resultan difíciles de asimilar sin ejemplos tangibles.</a:t>
            </a:r>
          </a:p>
          <a:p>
            <a:pPr algn="just">
              <a:lnSpc>
                <a:spcPts val="3201"/>
              </a:lnSpc>
            </a:pPr>
            <a:endParaRPr lang="en-US" sz="22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70971" y="1928925"/>
            <a:ext cx="6640906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PROBLEMATICA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92224" y="-3732007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857345" y="1028700"/>
            <a:ext cx="4932403" cy="10808055"/>
          </a:xfrm>
          <a:custGeom>
            <a:avLst/>
            <a:gdLst/>
            <a:ahLst/>
            <a:cxnLst/>
            <a:rect l="l" t="t" r="r" b="b"/>
            <a:pathLst>
              <a:path w="4932403" h="10808055">
                <a:moveTo>
                  <a:pt x="0" y="0"/>
                </a:moveTo>
                <a:lnTo>
                  <a:pt x="4932404" y="0"/>
                </a:lnTo>
                <a:lnTo>
                  <a:pt x="4932404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13917121" y="4900273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8462598" y="3786871"/>
            <a:ext cx="7764023" cy="4799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3667" lvl="1" indent="-246834" algn="just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EduCode resuelve esta barrera transformando la frustración en aprendizaje mediante la gamificación.</a:t>
            </a:r>
          </a:p>
          <a:p>
            <a:pPr algn="just">
              <a:lnSpc>
                <a:spcPts val="3201"/>
              </a:lnSpc>
            </a:pPr>
            <a:endParaRPr lang="en-US" sz="22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3667" lvl="1" indent="-246834" algn="just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Proporcionamos una plataforma interactiva donde los conceptos abstractos de la POO se reflejan de forma visual e inmediata sobre un modelo 3D (Rover).</a:t>
            </a:r>
          </a:p>
          <a:p>
            <a:pPr algn="just">
              <a:lnSpc>
                <a:spcPts val="3201"/>
              </a:lnSpc>
            </a:pPr>
            <a:endParaRPr lang="en-US" sz="22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3667" lvl="1" indent="-246834" algn="just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usuario asume el rol de un ingeniero controlando un Rover minero en un asteroide.</a:t>
            </a:r>
          </a:p>
          <a:p>
            <a:pPr algn="just">
              <a:lnSpc>
                <a:spcPts val="3201"/>
              </a:lnSpc>
            </a:pPr>
            <a:endParaRPr lang="en-US" sz="22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39533" y="2014709"/>
            <a:ext cx="4987089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SOLUCION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47383" y="6775951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454342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877481" y="4165471"/>
            <a:ext cx="4542862" cy="319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1"/>
              </a:lnSpc>
            </a:pPr>
            <a:r>
              <a:rPr lang="en-US" sz="22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Desarrollar "EduCode", una plataforma interactiva y gamificada utilizando Godot Engine para facilitar el aprendizaje de Programación Orientada a Objetos mediante retroalimentación visual en tiempo real.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23547" y="2278282"/>
            <a:ext cx="6640906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OBJETIVOS</a:t>
            </a:r>
          </a:p>
        </p:txBody>
      </p:sp>
      <p:sp>
        <p:nvSpPr>
          <p:cNvPr id="6" name="Freeform 6"/>
          <p:cNvSpPr/>
          <p:nvPr/>
        </p:nvSpPr>
        <p:spPr>
          <a:xfrm>
            <a:off x="14783217" y="-964573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7038909" y="4165471"/>
            <a:ext cx="4209064" cy="159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1"/>
              </a:lnSpc>
            </a:pPr>
            <a:r>
              <a:rPr lang="en-US" sz="22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Desarrollar un analizador léxico (parser) seguro que valide notación de punto y evite bucles infinitos.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67098" y="4165471"/>
            <a:ext cx="4284927" cy="279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1"/>
              </a:lnSpc>
            </a:pPr>
            <a:r>
              <a:rPr lang="en-US" sz="22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Construir el entorno 3D isométrico y las mecánicas del objeto (Rover) utilizando nodos GridMap y CharacterBody3D.</a:t>
            </a:r>
          </a:p>
          <a:p>
            <a:pPr algn="ctr">
              <a:lnSpc>
                <a:spcPts val="3201"/>
              </a:lnSpc>
            </a:pPr>
            <a:endParaRPr lang="en-US" sz="22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201"/>
              </a:lnSpc>
            </a:pPr>
            <a:endParaRPr lang="en-US" sz="22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1070" y="657225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454342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3921492" y="5076825"/>
            <a:ext cx="10445016" cy="3201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8436" lvl="1" indent="-279218" algn="ctr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utilizará la metodología Ágil Scrum, estructurando las 12 semanas de desarrollo central en 6 Sprints de 2 semanas.</a:t>
            </a:r>
          </a:p>
          <a:p>
            <a:pPr algn="ctr">
              <a:lnSpc>
                <a:spcPts val="3621"/>
              </a:lnSpc>
            </a:pPr>
            <a:endParaRPr lang="en-US" sz="25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58436" lvl="1" indent="-279218" algn="ctr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realizarán reuniones de seguimiento (Daily Stand-up) y revisiones (Sprint Review) para validar prototipos funcionales.</a:t>
            </a:r>
          </a:p>
          <a:p>
            <a:pPr algn="ctr">
              <a:lnSpc>
                <a:spcPts val="3621"/>
              </a:lnSpc>
            </a:pPr>
            <a:endParaRPr lang="en-US" sz="25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21472" y="1266179"/>
            <a:ext cx="7445055" cy="300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METODOLOGÍA DE DESARROLLO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15156062" y="5658901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21255">
            <a:off x="902437" y="5689740"/>
            <a:ext cx="4259304" cy="8050231"/>
          </a:xfrm>
          <a:custGeom>
            <a:avLst/>
            <a:gdLst/>
            <a:ahLst/>
            <a:cxnLst/>
            <a:rect l="l" t="t" r="r" b="b"/>
            <a:pathLst>
              <a:path w="4259304" h="8050231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5159867" y="895350"/>
            <a:ext cx="7522279" cy="300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DISTRIBUCIÓN DEL EQUIPO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3046" y="5956495"/>
            <a:ext cx="3719127" cy="119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2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Responsable del intérprete/parser y seguridad algorítmica.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3046" y="4442949"/>
            <a:ext cx="3609040" cy="1253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0"/>
              </a:lnSpc>
            </a:pPr>
            <a:r>
              <a:rPr lang="en-US" sz="35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 1 </a:t>
            </a:r>
          </a:p>
          <a:p>
            <a:pPr algn="ctr">
              <a:lnSpc>
                <a:spcPts val="4910"/>
              </a:lnSpc>
            </a:pPr>
            <a:r>
              <a:rPr lang="en-US" sz="35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(Núcleo Lógico)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01880" y="6053743"/>
            <a:ext cx="3719127" cy="119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2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Responsable de Godot, mapas 3D y físicas del Rover.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13062" y="4442949"/>
            <a:ext cx="4031855" cy="1253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0"/>
              </a:lnSpc>
            </a:pPr>
            <a:r>
              <a:rPr lang="en-US" sz="35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 2 (Motor/Gráficos)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45827" y="5956495"/>
            <a:ext cx="3719127" cy="119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2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Responsable de base de datos (Supabase) y autenticación.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73842" y="4442949"/>
            <a:ext cx="3791112" cy="1253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0"/>
              </a:lnSpc>
            </a:pPr>
            <a:r>
              <a:rPr lang="en-US" sz="35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 4</a:t>
            </a:r>
          </a:p>
          <a:p>
            <a:pPr algn="ctr">
              <a:lnSpc>
                <a:spcPts val="4910"/>
              </a:lnSpc>
            </a:pPr>
            <a:r>
              <a:rPr lang="en-US" sz="35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(Cloud/Web)</a:t>
            </a:r>
          </a:p>
        </p:txBody>
      </p:sp>
      <p:sp>
        <p:nvSpPr>
          <p:cNvPr id="10" name="Freeform 10"/>
          <p:cNvSpPr/>
          <p:nvPr/>
        </p:nvSpPr>
        <p:spPr>
          <a:xfrm rot="-5400000">
            <a:off x="12469095" y="5974467"/>
            <a:ext cx="4259304" cy="8050231"/>
          </a:xfrm>
          <a:custGeom>
            <a:avLst/>
            <a:gdLst/>
            <a:ahLst/>
            <a:cxnLst/>
            <a:rect l="l" t="t" r="r" b="b"/>
            <a:pathLst>
              <a:path w="4259304" h="8050231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>
            <a:off x="-4361103" y="-30289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Freeform 12"/>
          <p:cNvSpPr/>
          <p:nvPr/>
        </p:nvSpPr>
        <p:spPr>
          <a:xfrm>
            <a:off x="11037247" y="-3693869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TextBox 13"/>
          <p:cNvSpPr txBox="1"/>
          <p:nvPr/>
        </p:nvSpPr>
        <p:spPr>
          <a:xfrm>
            <a:off x="9180713" y="6053743"/>
            <a:ext cx="3793550" cy="119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2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Responsable de la interfaz gráfica, editor de código y misiones.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25892" y="4442949"/>
            <a:ext cx="3866975" cy="1253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0"/>
              </a:lnSpc>
            </a:pPr>
            <a:r>
              <a:rPr lang="en-US" sz="35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 3 (Gameplay/UI)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04618" y="5473935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2373237" y="5143500"/>
            <a:ext cx="2771029" cy="277102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725947" y="4963600"/>
            <a:ext cx="2771029" cy="277102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42522" y="5091489"/>
            <a:ext cx="2771029" cy="277102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28754" y="3648817"/>
            <a:ext cx="2598564" cy="1442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2"/>
              </a:lnSpc>
            </a:pPr>
            <a:r>
              <a:rPr lang="en-US" sz="39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Control de Versiones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2100" y="1533570"/>
            <a:ext cx="16123801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ARQUITECTURA Y TECH STACK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380922" y="-3460452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15"/>
          <p:cNvSpPr/>
          <p:nvPr/>
        </p:nvSpPr>
        <p:spPr>
          <a:xfrm>
            <a:off x="6629768" y="8943959"/>
            <a:ext cx="993159" cy="997573"/>
          </a:xfrm>
          <a:custGeom>
            <a:avLst/>
            <a:gdLst/>
            <a:ahLst/>
            <a:cxnLst/>
            <a:rect l="l" t="t" r="r" b="b"/>
            <a:pathLst>
              <a:path w="993159" h="997573">
                <a:moveTo>
                  <a:pt x="0" y="0"/>
                </a:moveTo>
                <a:lnTo>
                  <a:pt x="993158" y="0"/>
                </a:lnTo>
                <a:lnTo>
                  <a:pt x="993158" y="997573"/>
                </a:lnTo>
                <a:lnTo>
                  <a:pt x="0" y="997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10679953" y="8930645"/>
            <a:ext cx="958893" cy="958893"/>
          </a:xfrm>
          <a:custGeom>
            <a:avLst/>
            <a:gdLst/>
            <a:ahLst/>
            <a:cxnLst/>
            <a:rect l="l" t="t" r="r" b="b"/>
            <a:pathLst>
              <a:path w="958893" h="958893">
                <a:moveTo>
                  <a:pt x="0" y="0"/>
                </a:moveTo>
                <a:lnTo>
                  <a:pt x="958892" y="0"/>
                </a:lnTo>
                <a:lnTo>
                  <a:pt x="958892" y="958893"/>
                </a:lnTo>
                <a:lnTo>
                  <a:pt x="0" y="958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8032501" y="8930645"/>
            <a:ext cx="889075" cy="889075"/>
          </a:xfrm>
          <a:custGeom>
            <a:avLst/>
            <a:gdLst/>
            <a:ahLst/>
            <a:cxnLst/>
            <a:rect l="l" t="t" r="r" b="b"/>
            <a:pathLst>
              <a:path w="889075" h="889075">
                <a:moveTo>
                  <a:pt x="0" y="0"/>
                </a:moveTo>
                <a:lnTo>
                  <a:pt x="889075" y="0"/>
                </a:lnTo>
                <a:lnTo>
                  <a:pt x="889075" y="889076"/>
                </a:lnTo>
                <a:lnTo>
                  <a:pt x="0" y="889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9327975" y="8943959"/>
            <a:ext cx="945579" cy="945579"/>
          </a:xfrm>
          <a:custGeom>
            <a:avLst/>
            <a:gdLst/>
            <a:ahLst/>
            <a:cxnLst/>
            <a:rect l="l" t="t" r="r" b="b"/>
            <a:pathLst>
              <a:path w="945579" h="945579">
                <a:moveTo>
                  <a:pt x="0" y="0"/>
                </a:moveTo>
                <a:lnTo>
                  <a:pt x="945579" y="0"/>
                </a:lnTo>
                <a:lnTo>
                  <a:pt x="945579" y="945579"/>
                </a:lnTo>
                <a:lnTo>
                  <a:pt x="0" y="945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TextBox 19"/>
          <p:cNvSpPr txBox="1"/>
          <p:nvPr/>
        </p:nvSpPr>
        <p:spPr>
          <a:xfrm>
            <a:off x="2542919" y="3648817"/>
            <a:ext cx="2431665" cy="1442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2"/>
              </a:lnSpc>
            </a:pPr>
            <a:r>
              <a:rPr lang="en-US" sz="39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Motor de Videojuegos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59883" y="6300731"/>
            <a:ext cx="241470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Godot Engine v4.x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2179" y="3907500"/>
            <a:ext cx="2598564" cy="74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2"/>
              </a:lnSpc>
            </a:pPr>
            <a:r>
              <a:rPr lang="en-US" sz="39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Backend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94935" y="6151947"/>
            <a:ext cx="143305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Supabase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17061" y="6108703"/>
            <a:ext cx="162195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y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2242" y="-4389528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5679978" y="-1251899"/>
            <a:ext cx="3251552" cy="3263419"/>
          </a:xfrm>
          <a:custGeom>
            <a:avLst/>
            <a:gdLst/>
            <a:ahLst/>
            <a:cxnLst/>
            <a:rect l="l" t="t" r="r" b="b"/>
            <a:pathLst>
              <a:path w="3251552" h="3263419">
                <a:moveTo>
                  <a:pt x="0" y="0"/>
                </a:moveTo>
                <a:lnTo>
                  <a:pt x="3251552" y="0"/>
                </a:lnTo>
                <a:lnTo>
                  <a:pt x="3251552" y="3263419"/>
                </a:lnTo>
                <a:lnTo>
                  <a:pt x="0" y="3263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-886508" y="-938824"/>
            <a:ext cx="4099837" cy="4114800"/>
          </a:xfrm>
          <a:custGeom>
            <a:avLst/>
            <a:gdLst/>
            <a:ahLst/>
            <a:cxnLst/>
            <a:rect l="l" t="t" r="r" b="b"/>
            <a:pathLst>
              <a:path w="4099837" h="4114800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593166" y="9258300"/>
            <a:ext cx="2378335" cy="2387015"/>
          </a:xfrm>
          <a:custGeom>
            <a:avLst/>
            <a:gdLst/>
            <a:ahLst/>
            <a:cxnLst/>
            <a:rect l="l" t="t" r="r" b="b"/>
            <a:pathLst>
              <a:path w="2378335" h="2387015">
                <a:moveTo>
                  <a:pt x="0" y="0"/>
                </a:moveTo>
                <a:lnTo>
                  <a:pt x="2378335" y="0"/>
                </a:lnTo>
                <a:lnTo>
                  <a:pt x="2378335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5005091" y="5705113"/>
            <a:ext cx="8948857" cy="8948857"/>
          </a:xfrm>
          <a:custGeom>
            <a:avLst/>
            <a:gdLst/>
            <a:ahLst/>
            <a:cxnLst/>
            <a:rect l="l" t="t" r="r" b="b"/>
            <a:pathLst>
              <a:path w="8948857" h="8948857">
                <a:moveTo>
                  <a:pt x="0" y="0"/>
                </a:moveTo>
                <a:lnTo>
                  <a:pt x="8948858" y="0"/>
                </a:lnTo>
                <a:lnTo>
                  <a:pt x="8948858" y="8948857"/>
                </a:lnTo>
                <a:lnTo>
                  <a:pt x="0" y="8948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3742300" y="2728226"/>
            <a:ext cx="10960204" cy="6336368"/>
          </a:xfrm>
          <a:custGeom>
            <a:avLst/>
            <a:gdLst/>
            <a:ahLst/>
            <a:cxnLst/>
            <a:rect l="l" t="t" r="r" b="b"/>
            <a:pathLst>
              <a:path w="10960204" h="6336368">
                <a:moveTo>
                  <a:pt x="0" y="0"/>
                </a:moveTo>
                <a:lnTo>
                  <a:pt x="10960204" y="0"/>
                </a:lnTo>
                <a:lnTo>
                  <a:pt x="10960204" y="6336368"/>
                </a:lnTo>
                <a:lnTo>
                  <a:pt x="0" y="63363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3896623" y="609600"/>
            <a:ext cx="10494754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PROTOTIPO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7000" y="1894176"/>
            <a:ext cx="2453646" cy="64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 Figma</a:t>
            </a:r>
          </a:p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Main Menu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2242" y="-4389528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5679978" y="-1251899"/>
            <a:ext cx="3251552" cy="3263419"/>
          </a:xfrm>
          <a:custGeom>
            <a:avLst/>
            <a:gdLst/>
            <a:ahLst/>
            <a:cxnLst/>
            <a:rect l="l" t="t" r="r" b="b"/>
            <a:pathLst>
              <a:path w="3251552" h="3263419">
                <a:moveTo>
                  <a:pt x="0" y="0"/>
                </a:moveTo>
                <a:lnTo>
                  <a:pt x="3251552" y="0"/>
                </a:lnTo>
                <a:lnTo>
                  <a:pt x="3251552" y="3263419"/>
                </a:lnTo>
                <a:lnTo>
                  <a:pt x="0" y="3263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-886508" y="-938824"/>
            <a:ext cx="4099837" cy="4114800"/>
          </a:xfrm>
          <a:custGeom>
            <a:avLst/>
            <a:gdLst/>
            <a:ahLst/>
            <a:cxnLst/>
            <a:rect l="l" t="t" r="r" b="b"/>
            <a:pathLst>
              <a:path w="4099837" h="4114800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593166" y="9258300"/>
            <a:ext cx="2378335" cy="2387015"/>
          </a:xfrm>
          <a:custGeom>
            <a:avLst/>
            <a:gdLst/>
            <a:ahLst/>
            <a:cxnLst/>
            <a:rect l="l" t="t" r="r" b="b"/>
            <a:pathLst>
              <a:path w="2378335" h="2387015">
                <a:moveTo>
                  <a:pt x="0" y="0"/>
                </a:moveTo>
                <a:lnTo>
                  <a:pt x="2378335" y="0"/>
                </a:lnTo>
                <a:lnTo>
                  <a:pt x="2378335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5005091" y="5705113"/>
            <a:ext cx="8948857" cy="8948857"/>
          </a:xfrm>
          <a:custGeom>
            <a:avLst/>
            <a:gdLst/>
            <a:ahLst/>
            <a:cxnLst/>
            <a:rect l="l" t="t" r="r" b="b"/>
            <a:pathLst>
              <a:path w="8948857" h="8948857">
                <a:moveTo>
                  <a:pt x="0" y="0"/>
                </a:moveTo>
                <a:lnTo>
                  <a:pt x="8948858" y="0"/>
                </a:lnTo>
                <a:lnTo>
                  <a:pt x="8948858" y="8948857"/>
                </a:lnTo>
                <a:lnTo>
                  <a:pt x="0" y="8948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3702935" y="2998652"/>
            <a:ext cx="11021775" cy="6259648"/>
          </a:xfrm>
          <a:custGeom>
            <a:avLst/>
            <a:gdLst/>
            <a:ahLst/>
            <a:cxnLst/>
            <a:rect l="l" t="t" r="r" b="b"/>
            <a:pathLst>
              <a:path w="11021775" h="6259648">
                <a:moveTo>
                  <a:pt x="0" y="0"/>
                </a:moveTo>
                <a:lnTo>
                  <a:pt x="11021775" y="0"/>
                </a:lnTo>
                <a:lnTo>
                  <a:pt x="11021775" y="6259648"/>
                </a:lnTo>
                <a:lnTo>
                  <a:pt x="0" y="6259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1" b="-381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3896623" y="758796"/>
            <a:ext cx="10494754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PROTOTIPO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7000" y="2157171"/>
            <a:ext cx="2453646" cy="64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 Figma</a:t>
            </a:r>
          </a:p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Gameplay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2242" y="-4389528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5679978" y="-1251899"/>
            <a:ext cx="3251552" cy="3263419"/>
          </a:xfrm>
          <a:custGeom>
            <a:avLst/>
            <a:gdLst/>
            <a:ahLst/>
            <a:cxnLst/>
            <a:rect l="l" t="t" r="r" b="b"/>
            <a:pathLst>
              <a:path w="3251552" h="3263419">
                <a:moveTo>
                  <a:pt x="0" y="0"/>
                </a:moveTo>
                <a:lnTo>
                  <a:pt x="3251552" y="0"/>
                </a:lnTo>
                <a:lnTo>
                  <a:pt x="3251552" y="3263419"/>
                </a:lnTo>
                <a:lnTo>
                  <a:pt x="0" y="3263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-886508" y="-938824"/>
            <a:ext cx="4099837" cy="4114800"/>
          </a:xfrm>
          <a:custGeom>
            <a:avLst/>
            <a:gdLst/>
            <a:ahLst/>
            <a:cxnLst/>
            <a:rect l="l" t="t" r="r" b="b"/>
            <a:pathLst>
              <a:path w="4099837" h="4114800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593166" y="9258300"/>
            <a:ext cx="2378335" cy="2387015"/>
          </a:xfrm>
          <a:custGeom>
            <a:avLst/>
            <a:gdLst/>
            <a:ahLst/>
            <a:cxnLst/>
            <a:rect l="l" t="t" r="r" b="b"/>
            <a:pathLst>
              <a:path w="2378335" h="2387015">
                <a:moveTo>
                  <a:pt x="0" y="0"/>
                </a:moveTo>
                <a:lnTo>
                  <a:pt x="2378335" y="0"/>
                </a:lnTo>
                <a:lnTo>
                  <a:pt x="2378335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5005091" y="5705113"/>
            <a:ext cx="8948857" cy="8948857"/>
          </a:xfrm>
          <a:custGeom>
            <a:avLst/>
            <a:gdLst/>
            <a:ahLst/>
            <a:cxnLst/>
            <a:rect l="l" t="t" r="r" b="b"/>
            <a:pathLst>
              <a:path w="8948857" h="8948857">
                <a:moveTo>
                  <a:pt x="0" y="0"/>
                </a:moveTo>
                <a:lnTo>
                  <a:pt x="8948858" y="0"/>
                </a:lnTo>
                <a:lnTo>
                  <a:pt x="8948858" y="8948857"/>
                </a:lnTo>
                <a:lnTo>
                  <a:pt x="0" y="8948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3564065" y="2937050"/>
            <a:ext cx="11081936" cy="6385100"/>
          </a:xfrm>
          <a:custGeom>
            <a:avLst/>
            <a:gdLst/>
            <a:ahLst/>
            <a:cxnLst/>
            <a:rect l="l" t="t" r="r" b="b"/>
            <a:pathLst>
              <a:path w="11081936" h="6385100">
                <a:moveTo>
                  <a:pt x="0" y="0"/>
                </a:moveTo>
                <a:lnTo>
                  <a:pt x="11081936" y="0"/>
                </a:lnTo>
                <a:lnTo>
                  <a:pt x="11081936" y="6385100"/>
                </a:lnTo>
                <a:lnTo>
                  <a:pt x="0" y="6385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3896623" y="629863"/>
            <a:ext cx="10494754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PROTOTIPO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19156" y="2183254"/>
            <a:ext cx="2453646" cy="64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 Figma</a:t>
            </a:r>
          </a:p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Skill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17143" y="834792"/>
            <a:ext cx="2853714" cy="87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Navegación y Recolección 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62329" y="1812071"/>
            <a:ext cx="363341" cy="3633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12571" y="4961829"/>
            <a:ext cx="363341" cy="36334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13837" y="4961829"/>
            <a:ext cx="363341" cy="36334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01420" y="4885629"/>
            <a:ext cx="2853714" cy="87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Escritura y Fuerza Bruta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34354" y="4885629"/>
            <a:ext cx="2853714" cy="87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Transferencia y Economía 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962329" y="8109012"/>
            <a:ext cx="363341" cy="36334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717143" y="8672378"/>
            <a:ext cx="2853714" cy="87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Optimización de Código 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97327" y="1474014"/>
            <a:ext cx="3236113" cy="239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EduCode transforma la curva de aprendizaje en una economía interactiva: el código básico recolecta recursos, los minerales compran conocimiento, y la nueva sintaxis optimiza la exploración.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77179" y="8647988"/>
            <a:ext cx="5295541" cy="127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7"/>
              </a:lnSpc>
            </a:pPr>
            <a:r>
              <a:rPr lang="en-US" sz="880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BUCLE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994241" y="1993741"/>
            <a:ext cx="6299517" cy="629951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485773" y="4762078"/>
            <a:ext cx="3318204" cy="79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2"/>
              </a:lnSpc>
            </a:pPr>
            <a:r>
              <a:rPr lang="en-US" sz="55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EDUCODE</a:t>
            </a:r>
          </a:p>
        </p:txBody>
      </p:sp>
      <p:sp>
        <p:nvSpPr>
          <p:cNvPr id="24" name="Freeform 24"/>
          <p:cNvSpPr/>
          <p:nvPr/>
        </p:nvSpPr>
        <p:spPr>
          <a:xfrm>
            <a:off x="5144283" y="1028700"/>
            <a:ext cx="7999435" cy="7999435"/>
          </a:xfrm>
          <a:custGeom>
            <a:avLst/>
            <a:gdLst/>
            <a:ahLst/>
            <a:cxnLst/>
            <a:rect l="l" t="t" r="r" b="b"/>
            <a:pathLst>
              <a:path w="7999435" h="7999435">
                <a:moveTo>
                  <a:pt x="0" y="0"/>
                </a:moveTo>
                <a:lnTo>
                  <a:pt x="7999434" y="0"/>
                </a:lnTo>
                <a:lnTo>
                  <a:pt x="7999434" y="7999435"/>
                </a:lnTo>
                <a:lnTo>
                  <a:pt x="0" y="7999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3522" y="-40576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5230200" y="2813114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3018459" y="2403654"/>
            <a:ext cx="12251082" cy="6854646"/>
          </a:xfrm>
          <a:custGeom>
            <a:avLst/>
            <a:gdLst/>
            <a:ahLst/>
            <a:cxnLst/>
            <a:rect l="l" t="t" r="r" b="b"/>
            <a:pathLst>
              <a:path w="12251082" h="6854646">
                <a:moveTo>
                  <a:pt x="0" y="0"/>
                </a:moveTo>
                <a:lnTo>
                  <a:pt x="12251082" y="0"/>
                </a:lnTo>
                <a:lnTo>
                  <a:pt x="12251082" y="6854646"/>
                </a:lnTo>
                <a:lnTo>
                  <a:pt x="0" y="6854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5823547" y="300989"/>
            <a:ext cx="6640906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DEMO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17177" y="1719972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 Menu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3522" y="-40576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5230200" y="2813114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3762850" y="2813114"/>
            <a:ext cx="10762300" cy="6069600"/>
          </a:xfrm>
          <a:custGeom>
            <a:avLst/>
            <a:gdLst/>
            <a:ahLst/>
            <a:cxnLst/>
            <a:rect l="l" t="t" r="r" b="b"/>
            <a:pathLst>
              <a:path w="10762300" h="6069600">
                <a:moveTo>
                  <a:pt x="0" y="0"/>
                </a:moveTo>
                <a:lnTo>
                  <a:pt x="10762300" y="0"/>
                </a:lnTo>
                <a:lnTo>
                  <a:pt x="10762300" y="6069601"/>
                </a:lnTo>
                <a:lnTo>
                  <a:pt x="0" y="6069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5823547" y="300989"/>
            <a:ext cx="6640906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DEMO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17177" y="1719972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Gameplay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17177" y="9401293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Empieza en 1 casilla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3522" y="-40576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5230200" y="2813114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3216737" y="2432691"/>
            <a:ext cx="11854527" cy="6635228"/>
          </a:xfrm>
          <a:custGeom>
            <a:avLst/>
            <a:gdLst/>
            <a:ahLst/>
            <a:cxnLst/>
            <a:rect l="l" t="t" r="r" b="b"/>
            <a:pathLst>
              <a:path w="11854527" h="6635228">
                <a:moveTo>
                  <a:pt x="0" y="0"/>
                </a:moveTo>
                <a:lnTo>
                  <a:pt x="11854526" y="0"/>
                </a:lnTo>
                <a:lnTo>
                  <a:pt x="11854526" y="6635227"/>
                </a:lnTo>
                <a:lnTo>
                  <a:pt x="0" y="6635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5823547" y="300989"/>
            <a:ext cx="6640906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DEMO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17177" y="1719972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Gameplay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17177" y="9401293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3X3 Desbloqueado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3522" y="-40576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5230200" y="2813114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3757322" y="2610137"/>
            <a:ext cx="10773356" cy="6063538"/>
          </a:xfrm>
          <a:custGeom>
            <a:avLst/>
            <a:gdLst/>
            <a:ahLst/>
            <a:cxnLst/>
            <a:rect l="l" t="t" r="r" b="b"/>
            <a:pathLst>
              <a:path w="10773356" h="6063538">
                <a:moveTo>
                  <a:pt x="0" y="0"/>
                </a:moveTo>
                <a:lnTo>
                  <a:pt x="10773356" y="0"/>
                </a:lnTo>
                <a:lnTo>
                  <a:pt x="10773356" y="6063538"/>
                </a:lnTo>
                <a:lnTo>
                  <a:pt x="0" y="6063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5823547" y="300989"/>
            <a:ext cx="6640906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DEMO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17177" y="1719972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Skill Tree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16530" y="-40576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6622319" y="6361959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-1122163" y="1263543"/>
            <a:ext cx="8172675" cy="7759914"/>
          </a:xfrm>
          <a:custGeom>
            <a:avLst/>
            <a:gdLst/>
            <a:ahLst/>
            <a:cxnLst/>
            <a:rect l="l" t="t" r="r" b="b"/>
            <a:pathLst>
              <a:path w="8172675" h="7759914">
                <a:moveTo>
                  <a:pt x="0" y="0"/>
                </a:moveTo>
                <a:lnTo>
                  <a:pt x="8172675" y="0"/>
                </a:lnTo>
                <a:lnTo>
                  <a:pt x="8172675" y="7759914"/>
                </a:lnTo>
                <a:lnTo>
                  <a:pt x="0" y="7759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8614324" y="3824263"/>
            <a:ext cx="7764023" cy="5434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8436" lvl="1" indent="-279218" algn="just">
              <a:lnSpc>
                <a:spcPts val="3621"/>
              </a:lnSpc>
              <a:buFont typeface="Arial"/>
              <a:buChar char="•"/>
            </a:pP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jugador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comienza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escribiendo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fuerza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bruta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621"/>
              </a:lnSpc>
            </a:pPr>
            <a:endParaRPr lang="en-US" sz="2586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58436" lvl="1" indent="-279218" algn="just">
              <a:lnSpc>
                <a:spcPts val="3621"/>
              </a:lnSpc>
              <a:buFont typeface="Arial"/>
              <a:buChar char="•"/>
            </a:pP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recolectar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minerales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"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comprar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tienda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estructuras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control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eficientes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bucles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y while) para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optimizar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sus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rutinas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621"/>
              </a:lnSpc>
            </a:pPr>
            <a:endParaRPr lang="en-US" sz="2586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58436" lvl="1" indent="-279218" algn="just">
              <a:lnSpc>
                <a:spcPts val="3621"/>
              </a:lnSpc>
              <a:buFont typeface="Arial"/>
              <a:buChar char="•"/>
            </a:pP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Desarrollo de Landing Page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Oficial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alojar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permitir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descarga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juego.</a:t>
            </a:r>
          </a:p>
          <a:p>
            <a:pPr algn="just">
              <a:lnSpc>
                <a:spcPts val="3201"/>
              </a:lnSpc>
            </a:pPr>
            <a:endParaRPr lang="en-US" sz="2586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737442" y="1056459"/>
            <a:ext cx="7559958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GAMIFICACIÓN Y PROYECCIÓN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17382" y="6364711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-4057650" y="-3472069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693964" y="2657475"/>
            <a:ext cx="11635266" cy="10662135"/>
          </a:xfrm>
          <a:custGeom>
            <a:avLst/>
            <a:gdLst/>
            <a:ahLst/>
            <a:cxnLst/>
            <a:rect l="l" t="t" r="r" b="b"/>
            <a:pathLst>
              <a:path w="11635266" h="10662135">
                <a:moveTo>
                  <a:pt x="0" y="0"/>
                </a:moveTo>
                <a:lnTo>
                  <a:pt x="11635266" y="0"/>
                </a:lnTo>
                <a:lnTo>
                  <a:pt x="11635266" y="10662135"/>
                </a:lnTo>
                <a:lnTo>
                  <a:pt x="0" y="10662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11600029" y="1762346"/>
            <a:ext cx="5797468" cy="416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9"/>
              </a:lnSpc>
            </a:pPr>
            <a:r>
              <a:rPr lang="en-US" sz="1985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 consolidaron competencias en la construcción de aplicaciones interactivas (intérpretes de texto).</a:t>
            </a:r>
          </a:p>
          <a:p>
            <a:pPr algn="ctr">
              <a:lnSpc>
                <a:spcPts val="2779"/>
              </a:lnSpc>
            </a:pPr>
            <a:endParaRPr lang="en-US" sz="1985" i="1">
              <a:solidFill>
                <a:srgbClr val="FFFFFF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  <a:p>
            <a:pPr algn="ctr">
              <a:lnSpc>
                <a:spcPts val="2779"/>
              </a:lnSpc>
            </a:pPr>
            <a:r>
              <a:rPr lang="en-US" sz="1985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 logró la implementación de bases de datos relacionales para persistencia.</a:t>
            </a:r>
          </a:p>
          <a:p>
            <a:pPr algn="ctr">
              <a:lnSpc>
                <a:spcPts val="2779"/>
              </a:lnSpc>
            </a:pPr>
            <a:endParaRPr lang="en-US" sz="1985" i="1">
              <a:solidFill>
                <a:srgbClr val="FFFFFF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  <a:p>
            <a:pPr algn="ctr">
              <a:lnSpc>
                <a:spcPts val="2779"/>
              </a:lnSpc>
            </a:pPr>
            <a:r>
              <a:rPr lang="en-US" sz="1985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EduCode demuestra que un problema educativo real se puede resolver con arquitectura de software sólida y gamificación.</a:t>
            </a:r>
          </a:p>
          <a:p>
            <a:pPr algn="ctr">
              <a:lnSpc>
                <a:spcPts val="2219"/>
              </a:lnSpc>
            </a:pPr>
            <a:endParaRPr lang="en-US" sz="1985" i="1">
              <a:solidFill>
                <a:srgbClr val="FFFFFF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613628" y="5950836"/>
            <a:ext cx="5770270" cy="23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2"/>
              </a:lnSpc>
            </a:pPr>
            <a:r>
              <a:rPr lang="en-US" sz="771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APRENDIZAJES 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Personalizado</PresentationFormat>
  <Paragraphs>81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Anton</vt:lpstr>
      <vt:lpstr>Poppins Italics</vt:lpstr>
      <vt:lpstr>Arial</vt:lpstr>
      <vt:lpstr>Poppins Medium</vt:lpstr>
      <vt:lpstr>Impact</vt:lpstr>
      <vt:lpstr>Poppins</vt:lpstr>
      <vt:lpstr>Poppins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EduCode</dc:title>
  <cp:lastModifiedBy>LEANDRO ALEXIS GAJARDO VALDIVIA</cp:lastModifiedBy>
  <cp:revision>2</cp:revision>
  <dcterms:created xsi:type="dcterms:W3CDTF">2006-08-16T00:00:00Z</dcterms:created>
  <dcterms:modified xsi:type="dcterms:W3CDTF">2026-10-28T19:27:01Z</dcterms:modified>
  <dc:identifier>DAHTaQNgmcM</dc:identifier>
</cp:coreProperties>
</file>